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4ab5b4450c4df4" /><Relationship Type="http://schemas.openxmlformats.org/officeDocument/2006/relationships/extended-properties" Target="/docProps/app.xml" Id="R1d61338c70734872" /><Relationship Type="http://schemas.openxmlformats.org/officeDocument/2006/relationships/officeDocument" Target="/ppt/presentation.xml" Id="Rc955652f17dc46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c145f104054835"/>
  </p:sldMasterIdLst>
  <p:notesMasterIdLst>
    <p:notesMasterId xmlns:r="http://schemas.openxmlformats.org/officeDocument/2006/relationships" r:id="Rfed27d03cbee489d"/>
  </p:notesMasterIdLst>
  <p:sldIdLst>
    <p:sldId xmlns:r="http://schemas.openxmlformats.org/officeDocument/2006/relationships" id="256" r:id="R01057ce665c74a0f"/>
    <p:sldId xmlns:r="http://schemas.openxmlformats.org/officeDocument/2006/relationships" id="257" r:id="Rd8fac9a1a4dd4593"/>
    <p:sldId xmlns:r="http://schemas.openxmlformats.org/officeDocument/2006/relationships" id="258" r:id="Rab7a68e765594783"/>
    <p:sldId xmlns:r="http://schemas.openxmlformats.org/officeDocument/2006/relationships" id="259" r:id="Rd2fe3b52a9a34660"/>
    <p:sldId xmlns:r="http://schemas.openxmlformats.org/officeDocument/2006/relationships" id="260" r:id="R0e20d1d55ddd4567"/>
    <p:sldId xmlns:r="http://schemas.openxmlformats.org/officeDocument/2006/relationships" id="261" r:id="R55d99d5a33784a3f"/>
    <p:sldId xmlns:r="http://schemas.openxmlformats.org/officeDocument/2006/relationships" id="262" r:id="Rc957fc54ae5b42e4"/>
    <p:sldId xmlns:r="http://schemas.openxmlformats.org/officeDocument/2006/relationships" id="263" r:id="Ra950b290e8ab4738"/>
    <p:sldId xmlns:r="http://schemas.openxmlformats.org/officeDocument/2006/relationships" id="264" r:id="Rd7a1715f89654121"/>
    <p:sldId xmlns:r="http://schemas.openxmlformats.org/officeDocument/2006/relationships" id="265" r:id="R856828c26e274342"/>
    <p:sldId xmlns:r="http://schemas.openxmlformats.org/officeDocument/2006/relationships" id="266" r:id="R61c593f0cf564e1a"/>
    <p:sldId xmlns:r="http://schemas.openxmlformats.org/officeDocument/2006/relationships" id="267" r:id="Rf1be6830fb4c48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c6439d077450a" /><Relationship Type="http://schemas.openxmlformats.org/officeDocument/2006/relationships/slideMaster" Target="/ppt/slideMasters/slideMaster1.xml" Id="Re1c145f104054835" /><Relationship Type="http://schemas.openxmlformats.org/officeDocument/2006/relationships/notesMaster" Target="/ppt/notesMasters/notesMaster1.xml" Id="Rfed27d03cbee489d" /><Relationship Type="http://schemas.openxmlformats.org/officeDocument/2006/relationships/presProps" Target="/ppt/presProps.xml" Id="R76ee88e89e7941b8" /><Relationship Type="http://schemas.openxmlformats.org/officeDocument/2006/relationships/tableStyles" Target="/ppt/tableStyles.xml" Id="R9b5fac54f0964655" /><Relationship Type="http://schemas.openxmlformats.org/officeDocument/2006/relationships/slide" Target="/ppt/slides/slide1.xml" Id="R01057ce665c74a0f" /><Relationship Type="http://schemas.openxmlformats.org/officeDocument/2006/relationships/slide" Target="/ppt/slides/slide2.xml" Id="Rd8fac9a1a4dd4593" /><Relationship Type="http://schemas.openxmlformats.org/officeDocument/2006/relationships/slide" Target="/ppt/slides/slide3.xml" Id="Rab7a68e765594783" /><Relationship Type="http://schemas.openxmlformats.org/officeDocument/2006/relationships/slide" Target="/ppt/slides/slide4.xml" Id="Rd2fe3b52a9a34660" /><Relationship Type="http://schemas.openxmlformats.org/officeDocument/2006/relationships/slide" Target="/ppt/slides/slide5.xml" Id="R0e20d1d55ddd4567" /><Relationship Type="http://schemas.openxmlformats.org/officeDocument/2006/relationships/slide" Target="/ppt/slides/slide6.xml" Id="R55d99d5a33784a3f" /><Relationship Type="http://schemas.openxmlformats.org/officeDocument/2006/relationships/slide" Target="/ppt/slides/slide7.xml" Id="Rc957fc54ae5b42e4" /><Relationship Type="http://schemas.openxmlformats.org/officeDocument/2006/relationships/slide" Target="/ppt/slides/slide8.xml" Id="Ra950b290e8ab4738" /><Relationship Type="http://schemas.openxmlformats.org/officeDocument/2006/relationships/slide" Target="/ppt/slides/slide9.xml" Id="Rd7a1715f89654121" /><Relationship Type="http://schemas.openxmlformats.org/officeDocument/2006/relationships/slide" Target="/ppt/slides/slide10.xml" Id="R856828c26e274342" /><Relationship Type="http://schemas.openxmlformats.org/officeDocument/2006/relationships/slide" Target="/ppt/slides/slide11.xml" Id="R61c593f0cf564e1a" /><Relationship Type="http://schemas.openxmlformats.org/officeDocument/2006/relationships/slide" Target="/ppt/slides/slide12.xml" Id="Rf1be6830fb4c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d6f55f2d134e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cfaee6068d4f46" /><Relationship Type="http://schemas.openxmlformats.org/officeDocument/2006/relationships/notesMaster" Target="/ppt/notesMasters/notesMaster1.xml" Id="R48d7ceb8b9e6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ba58e00c84c44" /><Relationship Type="http://schemas.openxmlformats.org/officeDocument/2006/relationships/notesMaster" Target="/ppt/notesMasters/notesMaster1.xml" Id="Ra984386ee5b24a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711469faea466d" /><Relationship Type="http://schemas.openxmlformats.org/officeDocument/2006/relationships/notesMaster" Target="/ppt/notesMasters/notesMaster1.xml" Id="R6e3e866bf3e1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ac8e2a9b464539" /><Relationship Type="http://schemas.openxmlformats.org/officeDocument/2006/relationships/notesMaster" Target="/ppt/notesMasters/notesMaster1.xml" Id="R190e87234f9a4d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5c81337ddd42b7" /><Relationship Type="http://schemas.openxmlformats.org/officeDocument/2006/relationships/notesMaster" Target="/ppt/notesMasters/notesMaster1.xml" Id="R5de7e7616cc449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6cd1c26f214694" /><Relationship Type="http://schemas.openxmlformats.org/officeDocument/2006/relationships/notesMaster" Target="/ppt/notesMasters/notesMaster1.xml" Id="R80fa5820cc2a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34dbbb2a6f4aeb" /><Relationship Type="http://schemas.openxmlformats.org/officeDocument/2006/relationships/notesMaster" Target="/ppt/notesMasters/notesMaster1.xml" Id="Raa16a303567a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84a5134ae64637" /><Relationship Type="http://schemas.openxmlformats.org/officeDocument/2006/relationships/notesMaster" Target="/ppt/notesMasters/notesMaster1.xml" Id="R5ef5acaea610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a00f33bebc4312" /><Relationship Type="http://schemas.openxmlformats.org/officeDocument/2006/relationships/notesMaster" Target="/ppt/notesMasters/notesMaster1.xml" Id="Rd049a120a25245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61efdd38d64d26" /><Relationship Type="http://schemas.openxmlformats.org/officeDocument/2006/relationships/notesMaster" Target="/ppt/notesMasters/notesMaster1.xml" Id="R97b822cd487f4a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9801fdb8f446ed" /><Relationship Type="http://schemas.openxmlformats.org/officeDocument/2006/relationships/notesMaster" Target="/ppt/notesMasters/notesMaster1.xml" Id="Rdbe1be6823f14f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4969be5a86416a" /><Relationship Type="http://schemas.openxmlformats.org/officeDocument/2006/relationships/notesMaster" Target="/ppt/notesMasters/notesMaster1.xml" Id="R5258e3086d464d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b50c6535549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bf9c549db14335" /><Relationship Type="http://schemas.openxmlformats.org/officeDocument/2006/relationships/slideLayout" Target="/ppt/slideLayouts/slideLayout1.xml" Id="Refe4b48f414c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4b48f414c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cde81524d4207" /><Relationship Type="http://schemas.openxmlformats.org/officeDocument/2006/relationships/notesSlide" Target="/ppt/notesSlides/notesSlide1.xml" Id="R4dc5a5df08f9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28e8cc3bc453e" /><Relationship Type="http://schemas.openxmlformats.org/officeDocument/2006/relationships/notesSlide" Target="/ppt/notesSlides/notesSlide2.xml" Id="R75b55e15ad8e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e99eb3c4b46b4" /><Relationship Type="http://schemas.openxmlformats.org/officeDocument/2006/relationships/notesSlide" Target="/ppt/notesSlides/notesSlide3.xml" Id="R6277caec111e4e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83b817eb04389" /><Relationship Type="http://schemas.openxmlformats.org/officeDocument/2006/relationships/notesSlide" Target="/ppt/notesSlides/notesSlide4.xml" Id="R4d8e76af85d348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76419be024412" /><Relationship Type="http://schemas.openxmlformats.org/officeDocument/2006/relationships/notesSlide" Target="/ppt/notesSlides/notesSlide5.xml" Id="Rf4cd61eebe66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1a50eae8a4dc5" /><Relationship Type="http://schemas.openxmlformats.org/officeDocument/2006/relationships/notesSlide" Target="/ppt/notesSlides/notesSlide6.xml" Id="R4d5c17eedab544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97aff960b4d36" /><Relationship Type="http://schemas.openxmlformats.org/officeDocument/2006/relationships/notesSlide" Target="/ppt/notesSlides/notesSlide7.xml" Id="R310eaaf171fc4e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654e33b444975" /><Relationship Type="http://schemas.openxmlformats.org/officeDocument/2006/relationships/notesSlide" Target="/ppt/notesSlides/notesSlide8.xml" Id="R23e2c688d15340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d1aca94b8474e" /><Relationship Type="http://schemas.openxmlformats.org/officeDocument/2006/relationships/notesSlide" Target="/ppt/notesSlides/notesSlide9.xml" Id="R626c9174085a4f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ebe07c3b4577" /><Relationship Type="http://schemas.openxmlformats.org/officeDocument/2006/relationships/notesSlide" Target="/ppt/notesSlides/notesSlide10.xml" Id="R0c3497b0d9034b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9f9c88fda4887" /><Relationship Type="http://schemas.openxmlformats.org/officeDocument/2006/relationships/notesSlide" Target="/ppt/notesSlides/notesSlide11.xml" Id="R166b1d675b954d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1d51516dc4b9d" /><Relationship Type="http://schemas.openxmlformats.org/officeDocument/2006/relationships/notesSlide" Target="/ppt/notesSlides/notesSlide12.xml" Id="Rd78e352f5507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B5E4C-8C10-4A3F-B4F1-EFB5C2F3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78AD1-57EC-49C7-98FC-FE483019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CLIENT PRESENTATION • JULY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D8132-212A-4DFA-827F-3201AFD7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BD385-D61B-4C15-A73E-396D1CA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66800"/>
            <a:ext cx="2667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27C2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5368D-37BF-4A33-A748-DD66A76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8112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EF6A74"/>
                </a:solidFill>
              </a:defRPr>
            </a:pPr>
            <a:r>
              <a:rPr sz="5400" b="1">
                <a:solidFill>
                  <a:srgbClr val="EF6A74"/>
                </a:solidFill>
              </a:rPr>
              <a:t>401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0435C-E57E-4A4D-91B6-185951C8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42FD7-0D41-47B9-8B3C-099D3B9F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336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E3C1"/>
                </a:solidFill>
              </a:defRPr>
            </a:pPr>
            <a:r>
              <a:rPr sz="1350" b="1">
                <a:solidFill>
                  <a:srgbClr val="7CE3C1"/>
                </a:solidFill>
              </a:rPr>
              <a:t>REACHABLE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8B534-F9F5-4314-9D51-44C451A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AUTHENTICATION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954EF-B6C3-4DAC-B1CE-9D12EDBF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API Endpoint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Diagnostic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24F11-0EB3-4882-B67F-ACE1C33D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1F7"/>
                </a:solidFill>
              </a:defRPr>
            </a:pPr>
            <a:r>
              <a:rPr sz="1875" b="0">
                <a:solidFill>
                  <a:srgbClr val="E9F1F7"/>
                </a:solidFill>
              </a:rPr>
              <a:t>Turn endpoint evidence into a clear next diagnostic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6AD2A-98A0-4CF8-BE19-C34BF9A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53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38529-36C9-4414-82E2-0196AE22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E3C1"/>
                </a:solidFill>
              </a:defRPr>
            </a:pPr>
            <a:r>
              <a:rPr sz="1275" b="1">
                <a:solidFill>
                  <a:srgbClr val="7CE3C1"/>
                </a:solidFill>
              </a:rPr>
              <a:t>Sharad Kashyap  •  PHP 8.2+  •  Framework-independent</a:t>
            </a:r>
          </a:p>
        </p:txBody>
      </p:sp>
    </p:spTree>
    <p:extLst>
      <p:ext uri="{BB962C8B-B14F-4D97-AF65-F5344CB8AC3E}">
        <p14:creationId xmlns:p14="http://schemas.microsoft.com/office/powerpoint/2010/main" val="1734950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41985-8B2C-4B26-9D50-4B0054A5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B3348-7C63-4801-A810-B1CF7A98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457D2-B225-4C85-A17B-2A36C45A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65949-0348-4B6E-8198-E080330D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 status code is evidence - not an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B2EDD-C74D-47E6-8E15-EEF12C1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7184"/>
                </a:solidFill>
              </a:defRPr>
            </a:pPr>
            <a:r>
              <a:rPr sz="1650" b="0">
                <a:solidFill>
                  <a:srgbClr val="5E7184"/>
                </a:solidFill>
              </a:rPr>
              <a:t>Teams often lose time between seeing a failure and knowing what to inspect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63CD3-8FE2-4D95-AA1E-49FABDDE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3E9"/>
                </a:solidFill>
              </a:defRPr>
            </a:pPr>
            <a:r>
              <a:rPr sz="1125" b="1">
                <a:solidFill>
                  <a:srgbClr val="3563E9"/>
                </a:solidFill>
              </a:rPr>
              <a:t>RAW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6C90A-AEED-40DC-93C2-07261BBA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F6A74"/>
                </a:solidFill>
              </a:defRPr>
            </a:pPr>
            <a:r>
              <a:rPr sz="5250" b="1">
                <a:solidFill>
                  <a:srgbClr val="EF6A74"/>
                </a:solidFill>
              </a:rPr>
              <a:t>401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D11F9-F868-4C98-BD3B-C5158D1B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Unauthorized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BD212-1A1A-4550-9ECE-CB2997B5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solidFill>
              <a:srgbClr val="D7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13D33-9C11-4D38-A2BE-FE3519B1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3E9"/>
                </a:solidFill>
              </a:defRPr>
            </a:pPr>
            <a:r>
              <a:rPr sz="1125" b="1">
                <a:solidFill>
                  <a:srgbClr val="3563E9"/>
                </a:solidFill>
              </a:rPr>
              <a:t>QUESTIONS LEFT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C8905-C690-43BC-8BA0-241859B4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4095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Is the token missing?</a:t>
            </a:r>
          </a:p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Is the scheme wrong?</a:t>
            </a:r>
          </a:p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Are scopes insufficient?</a:t>
            </a:r>
          </a:p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Did a proxy return the response?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2B8BD-3CA8-467A-95BA-5728852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22479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71525"/>
          </a:solidFill>
          <a:ln xmlns:a="http://schemas.openxmlformats.org/drawingml/2006/main" w="0">
            <a:solidFill>
              <a:srgbClr val="0715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23242-E7DD-405F-A745-F0EF7637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E3C1"/>
                </a:solidFill>
              </a:defRPr>
            </a:pPr>
            <a:r>
              <a:rPr sz="1125" b="1">
                <a:solidFill>
                  <a:srgbClr val="7CE3C1"/>
                </a:solidFill>
              </a:rPr>
              <a:t>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166C4-B4D3-4145-81A2-30308D9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04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Guesswork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78481-40CB-4916-8AA0-6114419C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Repeated checks</a:t>
            </a:r>
          </a:p>
          <a:p xmlns:a="http://schemas.openxmlformats.org/drawingml/2006/main">
            <a:pPr algn="ctr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and slow handoffs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A8F7C-CC17-4B62-A9C8-18A4AA6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3E9"/>
                </a:solidFill>
              </a:defRPr>
            </a:pPr>
            <a:r>
              <a:rPr sz="2100" b="1">
                <a:solidFill>
                  <a:srgbClr val="3563E9"/>
                </a:solidFill>
              </a:rPr>
              <a:t>The missing layer is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542438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1CD0B-B5C5-4226-AFB0-268B2BE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CD14E-7425-4024-AF6F-A32F24A6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6DF99-E1DD-4BC2-AD6E-AFB49300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AFC4F-7EA7-4CFE-97E2-C3CA7D08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Raw response evidence becomes an actionable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7E712-EDAB-4E80-8C01-5BF48BE0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E3C1"/>
                </a:solidFill>
              </a:defRPr>
            </a:pPr>
            <a:r>
              <a:rPr sz="1050" b="1">
                <a:solidFill>
                  <a:srgbClr val="7CE3C1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6BD4B-EACC-4E1B-A8CD-4FD2D06F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48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3563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73EC1-94DE-4D2B-8243-955171D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GET /protected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5DD9-190C-4BB6-B56D-5AEA783F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HTTP 401</a:t>
            </a:r>
          </a:p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Content-Type: JSON</a:t>
            </a:r>
          </a:p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WWW-Authenticate: Bearer</a:t>
            </a:r>
          </a:p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Duration: 125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67B99-4B41-49EC-9A9E-916CA0EB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7C2D4"/>
                </a:solidFill>
              </a:defRPr>
            </a:pPr>
            <a:r>
              <a:rPr sz="3900" b="1">
                <a:solidFill>
                  <a:srgbClr val="27C2D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5D4CC-F1D1-4B05-872E-DDD25728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E3C1"/>
                </a:solidFill>
              </a:defRPr>
            </a:pPr>
            <a:r>
              <a:rPr sz="1050" b="1">
                <a:solidFill>
                  <a:srgbClr val="7CE3C1"/>
                </a:solidFill>
              </a:rPr>
              <a:t>DIAGNOSTIC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53246-F272-48C2-A73F-C5120D1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61912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A3CCF-2EC7-485F-9B53-149B5BCF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7184"/>
                </a:solidFill>
              </a:defRPr>
            </a:pPr>
            <a:r>
              <a:rPr sz="1200" b="1">
                <a:solidFill>
                  <a:srgbClr val="5E7184"/>
                </a:solidFill>
              </a:rPr>
              <a:t>Request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08A3F-84B0-4E50-A002-F1E23F86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F6A74"/>
                </a:solidFill>
              </a:defRPr>
            </a:pPr>
            <a:r>
              <a:rPr sz="1275" b="1">
                <a:solidFill>
                  <a:srgbClr val="EF6A74"/>
                </a:solidFill>
              </a:rPr>
              <a:t>FAILED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DAEEB-F28E-42B3-B30C-53FB597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solidFill>
              <a:srgbClr val="D7E4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1E461-3303-4550-886E-85F1E28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7184"/>
                </a:solidFill>
              </a:defRPr>
            </a:pPr>
            <a:r>
              <a:rPr sz="1200" b="1">
                <a:solidFill>
                  <a:srgbClr val="5E7184"/>
                </a:solidFill>
              </a:rPr>
              <a:t>Likely cause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12C30-33F4-4DA3-A031-FA0A9120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Authentication credentials are</a:t>
            </a:r>
          </a:p>
          <a:p xmlns:a="http://schemas.openxmlformats.org/drawingml/2006/main">
            <a:pPr algn="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missing or invalid.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47CE9-DB5B-4B8E-A489-22CDA119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2905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solidFill>
              <a:srgbClr val="D7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EC18A-7822-435A-BD34-9B51142B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19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7184"/>
                </a:solidFill>
              </a:defRPr>
            </a:pPr>
            <a:r>
              <a:rPr sz="1200" b="1">
                <a:solidFill>
                  <a:srgbClr val="5E7184"/>
                </a:solidFill>
              </a:rPr>
              <a:t>Suggested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0EE9D-CFEC-45D8-8293-ABADDD3B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624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3563E9"/>
                </a:solidFill>
              </a:defRPr>
            </a:pPr>
            <a:r>
              <a:rPr sz="1575" b="1">
                <a:solidFill>
                  <a:srgbClr val="3563E9"/>
                </a:solidFill>
              </a:rPr>
              <a:t>Verify token, API key and</a:t>
            </a:r>
          </a:p>
          <a:p xmlns:a="http://schemas.openxmlformats.org/drawingml/2006/main">
            <a:pPr algn="r">
              <a:defRPr sz="1575" b="1">
                <a:solidFill>
                  <a:srgbClr val="3563E9"/>
                </a:solidFill>
              </a:defRPr>
            </a:pPr>
            <a:r>
              <a:rPr sz="1575" b="1">
                <a:solidFill>
                  <a:srgbClr val="3563E9"/>
                </a:solidFill>
              </a:rPr>
              <a:t>Authorization header format.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AC1AF-37DD-44A2-8D9B-E358B5F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E3C1"/>
                </a:solidFill>
              </a:defRPr>
            </a:pPr>
            <a:r>
              <a:rPr sz="2100" b="1">
                <a:solidFill>
                  <a:srgbClr val="7CE3C1"/>
                </a:solidFill>
              </a:rPr>
              <a:t>Less guessing. Faster isolation. Cleaner client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68828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485C3-1DA2-4E50-8FFC-0DE8DC6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37F47-D7E8-44A7-879E-ED63BA8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2EAEC-3989-44C8-BCB0-47C4C26D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58EB9-4A29-46B8-8A22-B08383AB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Four stages separate evidence from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7253D-493B-49B2-B1AE-9C1277E8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184"/>
                </a:solidFill>
              </a:defRPr>
            </a:pPr>
            <a:r>
              <a:rPr sz="1575" b="0">
                <a:solidFill>
                  <a:srgbClr val="5E7184"/>
                </a:solidFill>
              </a:rPr>
              <a:t>Each layer has one job, making the system easier to test, extend and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8EED6-6FEC-4E45-BF1D-9E5A3FDF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098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71525"/>
          </a:solidFill>
          <a:ln xmlns:a="http://schemas.openxmlformats.org/drawingml/2006/main" w="0">
            <a:solidFill>
              <a:srgbClr val="0715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344A-8ABA-4D31-975F-D646A99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E3C1"/>
                </a:solidFill>
              </a:defRPr>
            </a:pPr>
            <a:r>
              <a:rPr sz="1350" b="1">
                <a:solidFill>
                  <a:srgbClr val="7CE3C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AC1AB-28CA-481E-977A-1EFEE0D8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7966E-B139-4FD2-957F-03B7EE72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URL • method</a:t>
            </a:r>
          </a:p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headers • body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64606-86D7-4F4F-9D1C-00D3108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3375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563E9"/>
                </a:solidFill>
              </a:defRPr>
            </a:pPr>
            <a:r>
              <a:rPr sz="2625" b="1">
                <a:solidFill>
                  <a:srgbClr val="3563E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2918A-07B8-4D62-89AB-66B43BB9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22098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0CEB2-E299-44E0-B625-19ADB4EA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E3C1"/>
                </a:solidFill>
              </a:defRPr>
            </a:pPr>
            <a:r>
              <a:rPr sz="1350" b="1">
                <a:solidFill>
                  <a:srgbClr val="7CE3C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FC348-7149-4E31-82CA-90ECD88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C7EE8-4DD4-4D17-B684-FF0BF50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909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status • headers</a:t>
            </a:r>
          </a:p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body • duration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1B46C-EB2C-4571-B147-D1ABA23F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563E9"/>
                </a:solidFill>
              </a:defRPr>
            </a:pPr>
            <a:r>
              <a:rPr sz="2625" b="1">
                <a:solidFill>
                  <a:srgbClr val="3563E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9B3C8-CA1E-412B-8051-7271BDF0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2098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869A"/>
          </a:solidFill>
          <a:ln xmlns:a="http://schemas.openxmlformats.org/drawingml/2006/main" w="0">
            <a:solidFill>
              <a:srgbClr val="1486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73D9B-DF6E-4875-81F5-7C64AF0F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E3C1"/>
                </a:solidFill>
              </a:defRPr>
            </a:pPr>
            <a:r>
              <a:rPr sz="1350" b="1">
                <a:solidFill>
                  <a:srgbClr val="7CE3C1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5C652-6D52-426B-86A8-F071F975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DIAGNOSIS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3BDA8-EBDC-49E8-B1E0-58CAB80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cause • context</a:t>
            </a:r>
          </a:p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next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78375-4D28-408F-9C8E-EC6AACBB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41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563E9"/>
                </a:solidFill>
              </a:defRPr>
            </a:pPr>
            <a:r>
              <a:rPr sz="2625" b="1">
                <a:solidFill>
                  <a:srgbClr val="3563E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E0DE7-EC24-42F6-878E-803A9357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22098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B6D55"/>
          </a:solidFill>
          <a:ln xmlns:a="http://schemas.openxmlformats.org/drawingml/2006/main" w="0">
            <a:solidFill>
              <a:srgbClr val="1B6D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1E62C-7CFC-467C-800D-4ED2255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E3C1"/>
                </a:solidFill>
              </a:defRPr>
            </a:pPr>
            <a:r>
              <a:rPr sz="1350" b="1">
                <a:solidFill>
                  <a:srgbClr val="7CE3C1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92B61-8055-49BE-83B6-4313F24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474D6-EC0C-4BA5-9504-A99FFBA2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readable text</a:t>
            </a:r>
          </a:p>
          <a:p xmlns:a="http://schemas.openxmlformats.org/drawingml/2006/main">
            <a:pPr algn="l">
              <a:defRPr sz="1425" b="0">
                <a:solidFill>
                  <a:srgbClr val="E9F1F7"/>
                </a:solidFill>
              </a:defRPr>
            </a:pPr>
            <a:r>
              <a:rPr sz="1425" b="0">
                <a:solidFill>
                  <a:srgbClr val="E9F1F7"/>
                </a:solidFill>
              </a:rPr>
              <a:t>structured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D3ACAD-8813-401B-8534-CC7D99A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</a:defRPr>
            </a:pPr>
            <a:r>
              <a:rPr sz="1875" b="1">
                <a:solidFill>
                  <a:srgbClr val="3563E9"/>
                </a:solidFill>
              </a:rPr>
              <a:t>Framework-independent by design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F2EA1-1F00-49AA-A506-125C1DF6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E7184"/>
                </a:solidFill>
              </a:defRPr>
            </a:pPr>
            <a:r>
              <a:rPr sz="1425" b="0">
                <a:solidFill>
                  <a:srgbClr val="5E7184"/>
                </a:solidFill>
              </a:rPr>
              <a:t>The HTTP probe can evolve without rewriting diagnostic rules.</a:t>
            </a:r>
          </a:p>
        </p:txBody>
      </p:sp>
    </p:spTree>
    <p:extLst>
      <p:ext uri="{BB962C8B-B14F-4D97-AF65-F5344CB8AC3E}">
        <p14:creationId xmlns:p14="http://schemas.microsoft.com/office/powerpoint/2010/main" val="1020544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38F7B-40D5-4B03-97C2-67FFD70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40856-895D-4F6D-92D2-2DAC1D1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4B966-D81E-4D25-95DC-AD6318B2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83BED-6691-4174-8F70-F7067CBB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Diagnostic intelligence goes beyond a lookup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641A9-7ADA-494E-BFFC-EEEA5789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F1F7"/>
                </a:solidFill>
              </a:defRPr>
            </a:pPr>
            <a:r>
              <a:rPr sz="1575" b="0">
                <a:solidFill>
                  <a:srgbClr val="E9F1F7"/>
                </a:solidFill>
              </a:rPr>
              <a:t>Four evidence lenses work together before the report is produced.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E3099-F460-49DB-8C20-A9F70135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6A74"/>
                </a:solidFill>
              </a:defRPr>
            </a:pPr>
            <a:r>
              <a:rPr sz="1350" b="1">
                <a:solidFill>
                  <a:srgbClr val="EF6A74"/>
                </a:solidFill>
              </a:rPr>
              <a:t>TRANSPORT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F7ABA-5E6A-4A2A-AEB6-49BDD36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74"/>
          </a:solidFill>
          <a:ln xmlns:a="http://schemas.openxmlformats.org/drawingml/2006/main" w="0">
            <a:solidFill>
              <a:srgbClr val="EF6A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E603A-44AB-495F-913E-40D89A20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241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DNS • timeout • SSL/TLS • refused connection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F1784-39ED-473D-979E-7B349064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B94A"/>
                </a:solidFill>
              </a:defRPr>
            </a:pPr>
            <a:r>
              <a:rPr sz="1350" b="1">
                <a:solidFill>
                  <a:srgbClr val="F6B94A"/>
                </a:solidFill>
              </a:rPr>
              <a:t>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600AB-2B07-489E-B4B6-D3B34C33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A"/>
          </a:solidFill>
          <a:ln xmlns:a="http://schemas.openxmlformats.org/drawingml/2006/main" w="0">
            <a:solidFill>
              <a:srgbClr val="F6B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960C1-281F-4676-A7B0-00DD12BC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623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Specific codes plus complete 2xx-5xx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D5BDD-BE08-48F5-974E-1C531D1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2D4"/>
                </a:solidFill>
              </a:defRPr>
            </a:pPr>
            <a:r>
              <a:rPr sz="1350" b="1">
                <a:solidFill>
                  <a:srgbClr val="27C2D4"/>
                </a:solidFill>
              </a:rPr>
              <a:t>HEADERS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5E7AF-70FD-4F3F-AEB6-C02F24D3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F5CEF-BD89-4A86-92CC-249EBBB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Allow • Retry-After • WWW-Authenticate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F733-D602-4226-A7A7-4C8FFB49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E3C1"/>
                </a:solidFill>
              </a:defRPr>
            </a:pPr>
            <a:r>
              <a:rPr sz="1350" b="1">
                <a:solidFill>
                  <a:srgbClr val="7CE3C1"/>
                </a:solidFill>
              </a:rPr>
              <a:t>CONSISTENCY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6AFB3-3B71-4905-BB9D-ABA57A4E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C1"/>
          </a:solidFill>
          <a:ln xmlns:a="http://schemas.openxmlformats.org/drawingml/2006/main" w="0">
            <a:solidFill>
              <a:srgbClr val="7CE3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406E8-06CD-46A9-B7BB-EF955009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387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Malformed JSON • HTML mismatch • invalid 204 body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1DF9A-E83C-4C8F-8B26-2058AB09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84DDF-4DC6-4848-89CF-7414D89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9F1F7"/>
                </a:solidFill>
              </a:defRPr>
            </a:pPr>
            <a:r>
              <a:rPr sz="1350" b="0">
                <a:solidFill>
                  <a:srgbClr val="E9F1F7"/>
                </a:solidFill>
              </a:rPr>
              <a:t>Result: evidence-aware guidance without pretending to know server-side facts it cannot see.</a:t>
            </a:r>
          </a:p>
        </p:txBody>
      </p:sp>
    </p:spTree>
    <p:extLst>
      <p:ext uri="{BB962C8B-B14F-4D97-AF65-F5344CB8AC3E}">
        <p14:creationId xmlns:p14="http://schemas.microsoft.com/office/powerpoint/2010/main" val="2143678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66AC4-D2A4-402B-8BCC-A7067E22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EF2B2-2233-4603-BC78-AE7F5B40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A3CA2-F894-4469-BC3F-540EFA6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89291-ED50-4084-858A-AF026347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Security controls are built into the diagnostic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57FD-B07F-4B01-821B-A66E539B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184"/>
                </a:solidFill>
              </a:defRPr>
            </a:pPr>
            <a:r>
              <a:rPr sz="1575" b="0">
                <a:solidFill>
                  <a:srgbClr val="5E7184"/>
                </a:solidFill>
              </a:rPr>
              <a:t>The tool limits what it can request and what it can reveal.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5EE89-6342-499C-92A3-9B0FF870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143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71525"/>
          </a:solidFill>
          <a:ln xmlns:a="http://schemas.openxmlformats.org/drawingml/2006/main" w="0">
            <a:solidFill>
              <a:srgbClr val="0715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E578A-3B18-49D7-AF48-C8AA4C3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C1"/>
                </a:solidFill>
              </a:defRPr>
            </a:pPr>
            <a:r>
              <a:rPr sz="1200" b="1">
                <a:solidFill>
                  <a:srgbClr val="7CE3C1"/>
                </a:solidFill>
              </a:rPr>
              <a:t>REQUEST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8D073-AAE2-4178-B6BA-D87F5560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HTTP and HTTPS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A866D-A61E-4372-81FB-CDBD6D08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Redirect protocols restricted</a:t>
            </a:r>
          </a:p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Redirect depth limited</a:t>
            </a:r>
          </a:p>
          <a:p xmlns:a="http://schemas.openxmlformats.org/drawingml/2006/main">
            <a:pPr algn="l">
              <a:defRPr sz="1500" b="0">
                <a:solidFill>
                  <a:srgbClr val="E9F1F7"/>
                </a:solidFill>
              </a:defRPr>
            </a:pPr>
            <a:r>
              <a:rPr sz="1500" b="0">
                <a:solidFill>
                  <a:srgbClr val="E9F1F7"/>
                </a:solidFill>
              </a:rPr>
              <a:t>Request timeout enforced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3C4F1-E5F7-4C8A-8ABB-DE2290A8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048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5F89E-15B6-40E6-B3B8-02C2EC7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63E9"/>
                </a:solidFill>
              </a:defRPr>
            </a:pPr>
            <a:r>
              <a:rPr sz="1200" b="1">
                <a:solidFill>
                  <a:srgbClr val="3563E9"/>
                </a:solidFill>
              </a:rPr>
              <a:t>OUTPUT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246F2-1E63-4F0A-9420-61B51178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Secrets stay out of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9B44D-EC86-4985-95C9-3213BE0D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Bearer credentials</a:t>
            </a:r>
          </a:p>
          <a:p xmlns:a="http://schemas.openxmlformats.org/drawingml/2006/main"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API keys and query tokens</a:t>
            </a:r>
          </a:p>
          <a:p xmlns:a="http://schemas.openxmlformats.org/drawingml/2006/main"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Passwords and URL credentials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A3905-4F8E-4EE3-888B-F16E953D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563E9"/>
                </a:solidFill>
              </a:defRPr>
            </a:pPr>
            <a:r>
              <a:rPr sz="1725" b="1">
                <a:solidFill>
                  <a:srgbClr val="3563E9"/>
                </a:solidFill>
              </a:rPr>
              <a:t>The tool diagnoses authorized endpoints; it does not bypass access or modify remote services.</a:t>
            </a:r>
          </a:p>
        </p:txBody>
      </p:sp>
    </p:spTree>
    <p:extLst>
      <p:ext uri="{BB962C8B-B14F-4D97-AF65-F5344CB8AC3E}">
        <p14:creationId xmlns:p14="http://schemas.microsoft.com/office/powerpoint/2010/main" val="1777396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7DA413-3216-417A-AE60-47426DFC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2CCF9-979D-4C1A-89F7-FF4A37D0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86B06-1D28-4E94-9BF8-9EBDB599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7E843-0114-4458-B360-32D1F03C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One diagnosis serves both people and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40B2C-4E7A-4589-9A66-74D2774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F1F7"/>
                </a:solidFill>
              </a:defRPr>
            </a:pPr>
            <a:r>
              <a:rPr sz="1575" b="0">
                <a:solidFill>
                  <a:srgbClr val="E9F1F7"/>
                </a:solidFill>
              </a:rPr>
              <a:t>The same report can be read in a terminal or consumed as JSON.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876DB-84C4-4587-BAAE-2A02352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E3C1"/>
                </a:solidFill>
              </a:defRPr>
            </a:pPr>
            <a:r>
              <a:rPr sz="1125" b="1">
                <a:solidFill>
                  <a:srgbClr val="7CE3C1"/>
                </a:solidFill>
              </a:rPr>
              <a:t>HUMAN-READABLE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336AD-C253-4088-8CDE-2AABBFE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3563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77626-717C-4DE0-998B-D7DFF1AD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4191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Request Status: Failed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Endpoint Reachable: Yes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HTTP Status: 429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Response Type: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Likely Cause: Rate limit exceeded.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Suggested Check: Retry after 120 seconds.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7E46-CE83-421B-8FA0-6B23BC6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E3C1"/>
                </a:solidFill>
              </a:defRPr>
            </a:pPr>
            <a:r>
              <a:rPr sz="1125" b="1">
                <a:solidFill>
                  <a:srgbClr val="7CE3C1"/>
                </a:solidFill>
              </a:rPr>
              <a:t>MACHINE-READABLE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231B3-6902-47BB-8E60-636EB1B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33650"/>
            <a:ext cx="52197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C8F2F-CDDE-47CD-825A-1143708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  "request_successful": false,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  "http_status": 429,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  "response_type": "JSON",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  "suggested_check":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    "Retry after 120 seconds."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9F168-738C-4186-ADED-6C6B04D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E3C1"/>
                </a:solidFill>
              </a:defRPr>
            </a:pPr>
            <a:r>
              <a:rPr sz="1500" b="1">
                <a:solidFill>
                  <a:srgbClr val="7CE3C1"/>
                </a:solidFill>
              </a:rPr>
              <a:t>Useful for debugging sessions, support handoffs and automated evidence capture.</a:t>
            </a:r>
          </a:p>
        </p:txBody>
      </p:sp>
    </p:spTree>
    <p:extLst>
      <p:ext uri="{BB962C8B-B14F-4D97-AF65-F5344CB8AC3E}">
        <p14:creationId xmlns:p14="http://schemas.microsoft.com/office/powerpoint/2010/main" val="1289834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23CC9-93D5-45FB-BF4F-A6D349C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93957-4313-4C59-917A-C4504AF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23B6C-DB5F-4183-AB21-D529747C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B7D6D-15BF-4038-9AE0-C3930C5D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Quality is enforced locally and on every GitHub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5C410-7FE2-4619-B9A5-3243D69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184"/>
                </a:solidFill>
              </a:defRPr>
            </a:pPr>
            <a:r>
              <a:rPr sz="1575" b="0">
                <a:solidFill>
                  <a:srgbClr val="5E7184"/>
                </a:solidFill>
              </a:rPr>
              <a:t>The repository does not rely on a green demo alone - it carries repeatable engineering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35917-9BFB-45A1-A645-3AF1874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563E9"/>
                </a:solidFill>
              </a:defRPr>
            </a:pPr>
            <a:r>
              <a:rPr sz="3600" b="1">
                <a:solidFill>
                  <a:srgbClr val="3563E9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5F0D1-A7A4-4FF4-A74B-9099221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automated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EAD40-3E9D-4EA7-A6B0-C0176864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7C2D4"/>
                </a:solidFill>
              </a:defRPr>
            </a:pPr>
            <a:r>
              <a:rPr sz="3600" b="1">
                <a:solidFill>
                  <a:srgbClr val="27C2D4"/>
                </a:solidFill>
              </a:rPr>
              <a:t>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0358E-5F46-48C0-B0D0-BFE45F35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assertions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7AE9E-60B6-4D7F-8FC7-70E0F672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812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6C98F"/>
                </a:solidFill>
              </a:defRPr>
            </a:pPr>
            <a:r>
              <a:rPr sz="3600" b="1">
                <a:solidFill>
                  <a:srgbClr val="36C98F"/>
                </a:solidFill>
              </a:rPr>
              <a:t>L8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01D8C-2365-4A89-A070-EBBA617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05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PHPStan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E03C1-AED9-4894-B6FE-5D3DDE3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B94A"/>
                </a:solidFill>
              </a:defRPr>
            </a:pPr>
            <a:r>
              <a:rPr sz="3600" b="1">
                <a:solidFill>
                  <a:srgbClr val="F6B94A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E97DB-BD48-48C6-96AB-092F486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184"/>
                </a:solidFill>
              </a:defRPr>
            </a:pPr>
            <a:r>
              <a:rPr sz="1275" b="0">
                <a:solidFill>
                  <a:srgbClr val="5E7184"/>
                </a:solidFill>
              </a:rPr>
              <a:t>PHP versions in 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D55F4-144E-447F-B2F7-2BB990B8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solidFill>
              <a:srgbClr val="D7E4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5C359-1CB7-44B7-8646-30964052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PHP 8.2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32EC8-D0C5-4ED6-AF4B-02483AB8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PHP 8.3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4A5DD-7DFA-45D4-AD3C-1B0442C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67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PHP 8.4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A46F1-85C8-4B24-B95B-9CB9C33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PHP 8.5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DCD33-143A-4D58-BB1B-D11B8072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44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98F"/>
          </a:solidFill>
          <a:ln xmlns:a="http://schemas.openxmlformats.org/drawingml/2006/main" w="0">
            <a:solidFill>
              <a:srgbClr val="36C9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56285-9295-4AC0-A323-C73682B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43450"/>
            <a:ext cx="144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98F"/>
          </a:solidFill>
          <a:ln xmlns:a="http://schemas.openxmlformats.org/drawingml/2006/main" w="0">
            <a:solidFill>
              <a:srgbClr val="36C9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A548C-C77B-4DC7-A1BF-8245851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43450"/>
            <a:ext cx="144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98F"/>
          </a:solidFill>
          <a:ln xmlns:a="http://schemas.openxmlformats.org/drawingml/2006/main" w="0">
            <a:solidFill>
              <a:srgbClr val="36C9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FCC94-F14E-4938-BD86-D576F9A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43450"/>
            <a:ext cx="144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98F"/>
          </a:solidFill>
          <a:ln xmlns:a="http://schemas.openxmlformats.org/drawingml/2006/main" w="0">
            <a:solidFill>
              <a:srgbClr val="36C9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82746-81A0-44C9-986E-767A168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</a:defRPr>
            </a:pPr>
            <a:r>
              <a:rPr sz="1875" b="1">
                <a:solidFill>
                  <a:srgbClr val="3563E9"/>
                </a:solidFill>
              </a:rPr>
              <a:t>composer quality = PHPUnit + PHPStan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0D02F-6D3F-449C-87DC-565CF1D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6C98F"/>
                </a:solidFill>
              </a:defRPr>
            </a:pPr>
            <a:r>
              <a:rPr sz="1650" b="1">
                <a:solidFill>
                  <a:srgbClr val="36C98F"/>
                </a:solidFill>
              </a:rPr>
              <a:t>GitHub Actions status: passing</a:t>
            </a:r>
          </a:p>
        </p:txBody>
      </p:sp>
    </p:spTree>
    <p:extLst>
      <p:ext uri="{BB962C8B-B14F-4D97-AF65-F5344CB8AC3E}">
        <p14:creationId xmlns:p14="http://schemas.microsoft.com/office/powerpoint/2010/main" val="1787020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6A711-7947-46F9-A8CB-698234C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08C9D-C5A6-4456-81CC-6ABAC25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1D8E1-9A22-4C5C-BE97-427EC31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3384F-57CC-4C0C-80CB-81540204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architecture isolates change and keeps the core testable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9F0E5-8404-49FC-BF1D-1D7651BC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F1F7"/>
                </a:solidFill>
              </a:defRPr>
            </a:pPr>
            <a:r>
              <a:rPr sz="1575" b="0">
                <a:solidFill>
                  <a:srgbClr val="E9F1F7"/>
                </a:solidFill>
              </a:rPr>
              <a:t>Request execution, diagnostic reasoning and presentation remain separate concerns.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D2EB4-EBB2-4A92-BCC2-CF61147B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8956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27C2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E16F5-882C-47E5-AA53-573022A5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C2D4"/>
                </a:solidFill>
              </a:defRPr>
            </a:pPr>
            <a:r>
              <a:rPr sz="1200" b="1">
                <a:solidFill>
                  <a:srgbClr val="27C2D4"/>
                </a:solidFill>
              </a:rPr>
              <a:t>HTTP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49D95-0A1B-42AB-B595-46B46A01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21923-B0E1-4130-8E57-7B493766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EndpointRequest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EndpointProbe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CurlEndpointProbe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EndpointResult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14DE2-3424-4C1F-A7AD-9000DC5F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861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563E9"/>
                </a:solidFill>
              </a:defRPr>
            </a:pPr>
            <a:r>
              <a:rPr sz="2550" b="1">
                <a:solidFill>
                  <a:srgbClr val="3563E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51760-D87D-4174-97EC-B69015C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8956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F6B9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1ADBA-7376-4A3B-A6C4-CDCCB772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B94A"/>
                </a:solidFill>
              </a:defRPr>
            </a:pPr>
            <a:r>
              <a:rPr sz="1200" b="1">
                <a:solidFill>
                  <a:srgbClr val="F6B94A"/>
                </a:solidFill>
              </a:rPr>
              <a:t>DIAGNOSIS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E5FEC-4960-49DB-A890-D823287C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A"/>
          </a:solidFill>
          <a:ln xmlns:a="http://schemas.openxmlformats.org/drawingml/2006/main" w="0">
            <a:solidFill>
              <a:srgbClr val="F6B9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CB079-6BA9-48CB-9977-90EDCB71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DiagnosisEngine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Transport analyzer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Header analyzer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Consistency analyzer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33A60-9BD3-4B4C-8B23-8E5FFBBE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861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563E9"/>
                </a:solidFill>
              </a:defRPr>
            </a:pPr>
            <a:r>
              <a:rPr sz="2550" b="1">
                <a:solidFill>
                  <a:srgbClr val="3563E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61811-2F3D-4902-96C7-B81D90B7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28956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2038"/>
          </a:solidFill>
          <a:ln xmlns:a="http://schemas.openxmlformats.org/drawingml/2006/main" w="9525">
            <a:solidFill>
              <a:srgbClr val="7CE3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BBC99-E6D1-4DA1-B6B1-4EB1470E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C1"/>
                </a:solidFill>
              </a:defRPr>
            </a:pPr>
            <a:r>
              <a:rPr sz="1200" b="1">
                <a:solidFill>
                  <a:srgbClr val="7CE3C1"/>
                </a:solidFill>
              </a:rPr>
              <a:t>OUTPUT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4CD75-FC1D-45A1-A0D7-5AE846D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3C1"/>
          </a:solidFill>
          <a:ln xmlns:a="http://schemas.openxmlformats.org/drawingml/2006/main" w="0">
            <a:solidFill>
              <a:srgbClr val="7CE3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2E7A9-AE54-4F2C-BFA4-55423E7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DiagnosticReport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JSON formatter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Sensitive-data redactor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CLI entry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B59AE-0EAA-4020-ADC7-17236B56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E3C1"/>
                </a:solidFill>
              </a:defRPr>
            </a:pPr>
            <a:r>
              <a:rPr sz="1575" b="1">
                <a:solidFill>
                  <a:srgbClr val="7CE3C1"/>
                </a:solidFill>
              </a:rPr>
              <a:t>Benefit: new evidence rules or output formats can be added without rewriting the request engine.</a:t>
            </a:r>
          </a:p>
        </p:txBody>
      </p:sp>
    </p:spTree>
    <p:extLst>
      <p:ext uri="{BB962C8B-B14F-4D97-AF65-F5344CB8AC3E}">
        <p14:creationId xmlns:p14="http://schemas.microsoft.com/office/powerpoint/2010/main" val="131576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77259-CE40-4952-98F8-D48A42F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3E56E-3B88-48B9-AADB-63445E4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CA5D5-C9C9-4437-9547-F049A83D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BBDF-5285-41B3-AF48-40DAE842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Three practical workflows share one evidence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E4DEE-8DE0-4F99-9D66-453E798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184"/>
                </a:solidFill>
              </a:defRPr>
            </a:pPr>
            <a:r>
              <a:rPr sz="1575" b="0">
                <a:solidFill>
                  <a:srgbClr val="5E7184"/>
                </a:solidFill>
              </a:rPr>
              <a:t>Designed for small fixes today, with room for broader API tooling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34361-EA83-4729-8EA8-AD28568C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63E9"/>
                </a:solidFill>
              </a:defRPr>
            </a:pPr>
            <a:r>
              <a:rPr sz="1950" b="1">
                <a:solidFill>
                  <a:srgbClr val="3563E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86404-3CBF-405A-A05E-AAB24C94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Freelance debugging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E741B-F61D-407A-8113-74DE1F1F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Turn a client’s failing endpoint into a concise evidence-backed diagnosis.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EC563-ED24-46B5-A192-1FB6F638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solidFill>
              <a:srgbClr val="D7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BFCD6-1A42-4D9F-A726-13F52D0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63E9"/>
                </a:solidFill>
              </a:defRPr>
            </a:pPr>
            <a:r>
              <a:rPr sz="1950" b="1">
                <a:solidFill>
                  <a:srgbClr val="3563E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B17A3-0616-41A9-971A-917290E8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Support handoff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D230E-B0A8-4FED-9420-A9C5B128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Share likely cause, next check and structured context without exposing secrets.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76F35-83B0-4ED5-85E4-E5F1E15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solidFill>
              <a:srgbClr val="D7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86C7D-E5AD-41EF-900F-E130B120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63E9"/>
                </a:solidFill>
              </a:defRPr>
            </a:pPr>
            <a:r>
              <a:rPr sz="1950" b="1">
                <a:solidFill>
                  <a:srgbClr val="3563E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0ABD7-5C9E-44C3-A6D5-59022774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81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Automation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AA50A-1D6E-4D3A-9010-07854EAA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</a:defRPr>
            </a:pPr>
            <a:r>
              <a:rPr sz="1500" b="0">
                <a:solidFill>
                  <a:srgbClr val="5E7184"/>
                </a:solidFill>
              </a:rPr>
              <a:t>Feed JSON reports into logs, issue templates or future diagnostic workflows.</a:t>
            </a:r>
          </a:p>
        </p:txBody>
      </p:sp>
    </p:spTree>
    <p:extLst>
      <p:ext uri="{BB962C8B-B14F-4D97-AF65-F5344CB8AC3E}">
        <p14:creationId xmlns:p14="http://schemas.microsoft.com/office/powerpoint/2010/main" val="1385174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848ED-E051-45AE-9C31-E982E71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solidFill>
              <a:srgbClr val="27C2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C7C90-6B81-41D9-B9D2-98C7FA0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API ENDPOINT DIAGNOSTIC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9C2A6-8959-45F1-8D1C-06FA53A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CE3C1"/>
                </a:solidFill>
              </a:defRPr>
            </a:pPr>
            <a:r>
              <a:rPr sz="975" b="1">
                <a:solidFill>
                  <a:srgbClr val="7CE3C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393F5-C9D2-4A7F-A3D2-81BD771E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Clear boundaries make the diagnosis more credible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9ADB4-B33B-47FC-B503-0DB62BE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F1F7"/>
                </a:solidFill>
              </a:defRPr>
            </a:pPr>
            <a:r>
              <a:rPr sz="1575" b="0">
                <a:solidFill>
                  <a:srgbClr val="E9F1F7"/>
                </a:solidFill>
              </a:rPr>
              <a:t>The report distinguishes likely cause from guaranteed root cause.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98B8B-A285-44A1-9FC7-9E51346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E3C1"/>
                </a:solidFill>
              </a:defRPr>
            </a:pPr>
            <a:r>
              <a:rPr sz="1200" b="1">
                <a:solidFill>
                  <a:srgbClr val="7CE3C1"/>
                </a:solidFill>
              </a:rPr>
              <a:t>WHAT IT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780C2-337A-4126-B6F2-925E7138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Captures endpoint evidence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Classifies common failure patterns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Recommends the next check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Produces safe, reusable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D9DAB-EBB6-425E-A8EF-F53F1612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7D73E-9DDF-4CEC-9BF8-1AED433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6A74"/>
                </a:solidFill>
              </a:defRPr>
            </a:pPr>
            <a:r>
              <a:rPr sz="1200" b="1">
                <a:solidFill>
                  <a:srgbClr val="EF6A74"/>
                </a:solidFill>
              </a:rPr>
              <a:t>WHAT IT DOES NOT 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5B45A-44EC-4825-A1FD-C00735C9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Bypass authentication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Change remote configuration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Guarantee unseen server-side causes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Automatically repair the endpoint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CCEEE-D04F-40F5-B5E5-5F1F2E83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7C2D4"/>
                </a:solidFill>
              </a:defRPr>
            </a:pPr>
            <a:r>
              <a:rPr sz="2250" b="1">
                <a:solidFill>
                  <a:srgbClr val="27C2D4"/>
                </a:solidFill>
              </a:rPr>
              <a:t>Evidence → interpretation → recommended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0127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1C7B9-B502-4538-95E5-3484C90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3D270-A96F-4AB9-8E99-94A599B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CLIENT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BD877-C1DE-49B1-8D2E-1C60DFAB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563E9"/>
                </a:solidFill>
              </a:defRPr>
            </a:pPr>
            <a:r>
              <a:rPr sz="975" b="1">
                <a:solidFill>
                  <a:srgbClr val="3563E9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F0EB7-2780-4F59-BF9D-8DDFD9AA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Ready for a real endpoint diagnostic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53240-6B14-4589-85BF-CCB604D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7184"/>
                </a:solidFill>
              </a:defRPr>
            </a:pPr>
            <a:r>
              <a:rPr sz="1650" b="0">
                <a:solidFill>
                  <a:srgbClr val="5E7184"/>
                </a:solidFill>
              </a:rPr>
              <a:t>Clone, install and run the tool against an authorized test endpoint.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D7EA7-02CA-4968-973D-E866BF77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429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71525"/>
          </a:solidFill>
          <a:ln xmlns:a="http://schemas.openxmlformats.org/drawingml/2006/main" w="0">
            <a:solidFill>
              <a:srgbClr val="0715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FED8B-8F32-449C-AAC4-1324B96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676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git clone https://github.com/sharadkashyapdev/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api-endpoint-diagnostic-tool.git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composer install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php bin/diagnose.php &lt;endpoint-url&gt; --json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E2FCF-94E2-4A94-A2D8-AEC7D717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667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36D61-61BC-439A-965B-B0EFD37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0510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507D6-E371-408E-ACCC-21C58F3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F1F7"/>
                </a:solidFill>
              </a:defRPr>
            </a:pPr>
            <a:r>
              <a:rPr sz="1500" b="1">
                <a:solidFill>
                  <a:srgbClr val="E9F1F7"/>
                </a:solidFill>
              </a:rPr>
              <a:t>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A9E4F-C5A9-4B16-ADDD-C528EAF4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PHP 8.2-8.5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CI passing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E1F93-78FF-4999-A2BC-AF6D854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Sharad Kashyap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C983B-1688-4378-85E9-8ECCCEE6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184"/>
                </a:solidFill>
              </a:defRPr>
            </a:pPr>
            <a:r>
              <a:rPr sz="1425" b="0">
                <a:solidFill>
                  <a:srgbClr val="5E7184"/>
                </a:solidFill>
              </a:rPr>
              <a:t>Software Engineer  •  GitHub @sharadkashyapdev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12369-23E4-4F2E-8772-949BE3A3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563E9"/>
                </a:solidFill>
              </a:defRPr>
            </a:pPr>
            <a:r>
              <a:rPr sz="1800" b="1">
                <a:solidFill>
                  <a:srgbClr val="3563E9"/>
                </a:solidFill>
              </a:rPr>
              <a:t>A focused tool. A clear diagnosis. A practical next step.</a:t>
            </a:r>
          </a:p>
        </p:txBody>
      </p:sp>
    </p:spTree>
    <p:extLst>
      <p:ext uri="{BB962C8B-B14F-4D97-AF65-F5344CB8AC3E}">
        <p14:creationId xmlns:p14="http://schemas.microsoft.com/office/powerpoint/2010/main" val="613451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2026-07-18T06:28:43.6700000Z</dcterms:created>
  <dcterms:modified xsi:type="dcterms:W3CDTF">2026-07-18T06:28:43.6700000Z</dcterms:modified>
</coreProperties>
</file>